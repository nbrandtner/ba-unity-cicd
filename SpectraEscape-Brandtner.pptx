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8"/>
  </p:notesMasterIdLst>
  <p:sldIdLst>
    <p:sldId id="256" r:id="rId2"/>
    <p:sldId id="260" r:id="rId3"/>
    <p:sldId id="264" r:id="rId4"/>
    <p:sldId id="272" r:id="rId5"/>
    <p:sldId id="276" r:id="rId6"/>
    <p:sldId id="275" r:id="rId7"/>
  </p:sldIdLst>
  <p:sldSz cx="9144000" cy="5143500" type="screen16x9"/>
  <p:notesSz cx="6858000" cy="9144000"/>
  <p:embeddedFontLst>
    <p:embeddedFont>
      <p:font typeface="Kanit" panose="020B0604020202020204" charset="-34"/>
      <p:regular r:id="rId9"/>
      <p:bold r:id="rId10"/>
      <p:italic r:id="rId11"/>
      <p:boldItalic r:id="rId12"/>
    </p:embeddedFont>
    <p:embeddedFont>
      <p:font typeface="Kanit Light" panose="020B0604020202020204" charset="-34"/>
      <p:regular r:id="rId13"/>
      <p:bold r:id="rId14"/>
      <p:italic r:id="rId15"/>
      <p:boldItalic r:id="rId16"/>
    </p:embeddedFont>
    <p:embeddedFont>
      <p:font typeface="Open Sans Light" panose="020B0306030504020204" pitchFamily="34" charset="0"/>
      <p:regular r:id="rId17"/>
      <p:italic r:id="rId18"/>
    </p:embeddedFont>
    <p:embeddedFont>
      <p:font typeface="Orbitron" panose="020B0604020202020204" charset="0"/>
      <p:regular r:id="rId19"/>
      <p:bold r:id="rId20"/>
    </p:embeddedFont>
    <p:embeddedFont>
      <p:font typeface="Raleway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60DCBB2-7BC2-49E9-ABE9-B664CA4810F1}">
  <a:tblStyle styleId="{560DCBB2-7BC2-49E9-ABE9-B664CA4810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D48AB33-6D5C-4BD1-8D8E-43B7229D26A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730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125d80b4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125d80b4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125d80b419_0_7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125d80b419_0_7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125d80b419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1125d80b419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://bit.ly/2TyoMsr" TargetMode="External"/><Relationship Id="rId4" Type="http://schemas.openxmlformats.org/officeDocument/2006/relationships/hyperlink" Target="https://bit.ly/3A1uf1Q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654450" y="1307025"/>
            <a:ext cx="5682300" cy="19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654575" y="3450425"/>
            <a:ext cx="5682300" cy="4095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8657175" y="772575"/>
            <a:ext cx="74100" cy="1788450"/>
            <a:chOff x="8657175" y="772575"/>
            <a:chExt cx="74100" cy="1788450"/>
          </a:xfrm>
        </p:grpSpPr>
        <p:sp>
          <p:nvSpPr>
            <p:cNvPr id="14" name="Google Shape;14;p2"/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sp>
        <p:nvSpPr>
          <p:cNvPr id="17" name="Google Shape;17;p2"/>
          <p:cNvSpPr/>
          <p:nvPr/>
        </p:nvSpPr>
        <p:spPr>
          <a:xfrm>
            <a:off x="8809575" y="4485025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8657175" y="4637450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8809575" y="4789875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grpSp>
        <p:nvGrpSpPr>
          <p:cNvPr id="20" name="Google Shape;20;p2"/>
          <p:cNvGrpSpPr/>
          <p:nvPr/>
        </p:nvGrpSpPr>
        <p:grpSpPr>
          <a:xfrm>
            <a:off x="205650" y="308475"/>
            <a:ext cx="150300" cy="378950"/>
            <a:chOff x="205650" y="308475"/>
            <a:chExt cx="150300" cy="378950"/>
          </a:xfrm>
        </p:grpSpPr>
        <p:sp>
          <p:nvSpPr>
            <p:cNvPr id="21" name="Google Shape;21;p2"/>
            <p:cNvSpPr/>
            <p:nvPr/>
          </p:nvSpPr>
          <p:spPr>
            <a:xfrm>
              <a:off x="205650" y="30847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81850" y="460900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05650" y="61332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" name="Google Shape;24;p2"/>
          <p:cNvGrpSpPr/>
          <p:nvPr/>
        </p:nvGrpSpPr>
        <p:grpSpPr>
          <a:xfrm>
            <a:off x="1085475" y="4711575"/>
            <a:ext cx="536998" cy="134100"/>
            <a:chOff x="1085475" y="4711575"/>
            <a:chExt cx="536998" cy="134100"/>
          </a:xfrm>
        </p:grpSpPr>
        <p:sp>
          <p:nvSpPr>
            <p:cNvPr id="25" name="Google Shape;25;p2"/>
            <p:cNvSpPr/>
            <p:nvPr/>
          </p:nvSpPr>
          <p:spPr>
            <a:xfrm>
              <a:off x="1085475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2197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3540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488373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54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body" idx="1"/>
          </p:nvPr>
        </p:nvSpPr>
        <p:spPr>
          <a:xfrm>
            <a:off x="720000" y="1547575"/>
            <a:ext cx="4549500" cy="26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7"/>
          <p:cNvSpPr>
            <a:spLocks noGrp="1"/>
          </p:cNvSpPr>
          <p:nvPr>
            <p:ph type="pic" idx="2"/>
          </p:nvPr>
        </p:nvSpPr>
        <p:spPr>
          <a:xfrm>
            <a:off x="5831400" y="756200"/>
            <a:ext cx="2526600" cy="3699600"/>
          </a:xfrm>
          <a:prstGeom prst="snip1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66" name="Google Shape;6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3">
            <a:alphaModFix amt="60000"/>
          </a:blip>
          <a:srcRect l="38540" t="43939"/>
          <a:stretch/>
        </p:blipFill>
        <p:spPr>
          <a:xfrm flipH="1">
            <a:off x="0" y="2807025"/>
            <a:ext cx="4553876" cy="233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9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xfrm>
            <a:off x="2258453" y="1656375"/>
            <a:ext cx="53409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1" name="Google Shape;141;p17"/>
          <p:cNvSpPr txBox="1">
            <a:spLocks noGrp="1"/>
          </p:cNvSpPr>
          <p:nvPr>
            <p:ph type="subTitle" idx="2"/>
          </p:nvPr>
        </p:nvSpPr>
        <p:spPr>
          <a:xfrm>
            <a:off x="2258453" y="2876075"/>
            <a:ext cx="53409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2" name="Google Shape;142;p17"/>
          <p:cNvSpPr txBox="1">
            <a:spLocks noGrp="1"/>
          </p:cNvSpPr>
          <p:nvPr>
            <p:ph type="subTitle" idx="3"/>
          </p:nvPr>
        </p:nvSpPr>
        <p:spPr>
          <a:xfrm>
            <a:off x="2258453" y="4095775"/>
            <a:ext cx="53409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3" name="Google Shape;143;p17"/>
          <p:cNvSpPr txBox="1">
            <a:spLocks noGrp="1"/>
          </p:cNvSpPr>
          <p:nvPr>
            <p:ph type="subTitle" idx="4"/>
          </p:nvPr>
        </p:nvSpPr>
        <p:spPr>
          <a:xfrm>
            <a:off x="2258453" y="1135025"/>
            <a:ext cx="5340900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7"/>
          <p:cNvSpPr txBox="1">
            <a:spLocks noGrp="1"/>
          </p:cNvSpPr>
          <p:nvPr>
            <p:ph type="subTitle" idx="5"/>
          </p:nvPr>
        </p:nvSpPr>
        <p:spPr>
          <a:xfrm>
            <a:off x="2258453" y="2354730"/>
            <a:ext cx="5340900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7"/>
          <p:cNvSpPr txBox="1">
            <a:spLocks noGrp="1"/>
          </p:cNvSpPr>
          <p:nvPr>
            <p:ph type="subTitle" idx="6"/>
          </p:nvPr>
        </p:nvSpPr>
        <p:spPr>
          <a:xfrm>
            <a:off x="2258453" y="3574435"/>
            <a:ext cx="5340900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pic>
        <p:nvPicPr>
          <p:cNvPr id="146" name="Google Shape;14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/>
          <p:cNvPicPr preferRelativeResize="0"/>
          <p:nvPr/>
        </p:nvPicPr>
        <p:blipFill rotWithShape="1">
          <a:blip r:embed="rId3">
            <a:alphaModFix amt="60000"/>
          </a:blip>
          <a:srcRect l="38540" t="43939"/>
          <a:stretch/>
        </p:blipFill>
        <p:spPr>
          <a:xfrm flipH="1">
            <a:off x="0" y="2807025"/>
            <a:ext cx="4553876" cy="233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9"/>
          <p:cNvSpPr txBox="1">
            <a:spLocks noGrp="1"/>
          </p:cNvSpPr>
          <p:nvPr>
            <p:ph type="subTitle" idx="1"/>
          </p:nvPr>
        </p:nvSpPr>
        <p:spPr>
          <a:xfrm>
            <a:off x="725143" y="1811513"/>
            <a:ext cx="24591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9"/>
          <p:cNvSpPr txBox="1">
            <a:spLocks noGrp="1"/>
          </p:cNvSpPr>
          <p:nvPr>
            <p:ph type="subTitle" idx="2"/>
          </p:nvPr>
        </p:nvSpPr>
        <p:spPr>
          <a:xfrm>
            <a:off x="3342150" y="1811525"/>
            <a:ext cx="24597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9"/>
          <p:cNvSpPr txBox="1">
            <a:spLocks noGrp="1"/>
          </p:cNvSpPr>
          <p:nvPr>
            <p:ph type="subTitle" idx="3"/>
          </p:nvPr>
        </p:nvSpPr>
        <p:spPr>
          <a:xfrm>
            <a:off x="5959741" y="1811525"/>
            <a:ext cx="24597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9"/>
          <p:cNvSpPr txBox="1">
            <a:spLocks noGrp="1"/>
          </p:cNvSpPr>
          <p:nvPr>
            <p:ph type="subTitle" idx="4"/>
          </p:nvPr>
        </p:nvSpPr>
        <p:spPr>
          <a:xfrm>
            <a:off x="725143" y="3433100"/>
            <a:ext cx="24591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9"/>
          <p:cNvSpPr txBox="1">
            <a:spLocks noGrp="1"/>
          </p:cNvSpPr>
          <p:nvPr>
            <p:ph type="subTitle" idx="5"/>
          </p:nvPr>
        </p:nvSpPr>
        <p:spPr>
          <a:xfrm>
            <a:off x="3342450" y="3433100"/>
            <a:ext cx="24591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9"/>
          <p:cNvSpPr txBox="1">
            <a:spLocks noGrp="1"/>
          </p:cNvSpPr>
          <p:nvPr>
            <p:ph type="subTitle" idx="6"/>
          </p:nvPr>
        </p:nvSpPr>
        <p:spPr>
          <a:xfrm>
            <a:off x="5962591" y="3433100"/>
            <a:ext cx="24540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9"/>
          <p:cNvSpPr txBox="1">
            <a:spLocks noGrp="1"/>
          </p:cNvSpPr>
          <p:nvPr>
            <p:ph type="subTitle" idx="7"/>
          </p:nvPr>
        </p:nvSpPr>
        <p:spPr>
          <a:xfrm>
            <a:off x="720000" y="12766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subTitle" idx="8"/>
          </p:nvPr>
        </p:nvSpPr>
        <p:spPr>
          <a:xfrm>
            <a:off x="3342450" y="12766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subTitle" idx="9"/>
          </p:nvPr>
        </p:nvSpPr>
        <p:spPr>
          <a:xfrm>
            <a:off x="5959741" y="1276675"/>
            <a:ext cx="24597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subTitle" idx="13"/>
          </p:nvPr>
        </p:nvSpPr>
        <p:spPr>
          <a:xfrm>
            <a:off x="720344" y="2893750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subTitle" idx="14"/>
          </p:nvPr>
        </p:nvSpPr>
        <p:spPr>
          <a:xfrm>
            <a:off x="3342450" y="2893750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subTitle" idx="15"/>
          </p:nvPr>
        </p:nvSpPr>
        <p:spPr>
          <a:xfrm>
            <a:off x="5960041" y="2893750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pic>
        <p:nvPicPr>
          <p:cNvPr id="174" name="Google Shape;17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/>
          <p:cNvPicPr preferRelativeResize="0"/>
          <p:nvPr/>
        </p:nvPicPr>
        <p:blipFill rotWithShape="1">
          <a:blip r:embed="rId3">
            <a:alphaModFix amt="60000"/>
          </a:blip>
          <a:srcRect l="38540" t="43939"/>
          <a:stretch/>
        </p:blipFill>
        <p:spPr>
          <a:xfrm flipH="1">
            <a:off x="0" y="2807025"/>
            <a:ext cx="4553876" cy="233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0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>
            <a:spLocks noGrp="1"/>
          </p:cNvSpPr>
          <p:nvPr>
            <p:ph type="ctrTitle"/>
          </p:nvPr>
        </p:nvSpPr>
        <p:spPr>
          <a:xfrm>
            <a:off x="2382250" y="839800"/>
            <a:ext cx="43794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1" name="Google Shape;181;p20"/>
          <p:cNvSpPr txBox="1">
            <a:spLocks noGrp="1"/>
          </p:cNvSpPr>
          <p:nvPr>
            <p:ph type="subTitle" idx="1"/>
          </p:nvPr>
        </p:nvSpPr>
        <p:spPr>
          <a:xfrm>
            <a:off x="2382350" y="1852800"/>
            <a:ext cx="4379400" cy="11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2382325" y="3487250"/>
            <a:ext cx="4379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rPr>
              <a:t>CREDITS: This presentation template was created by </a:t>
            </a:r>
            <a:r>
              <a:rPr lang="en" sz="1000" u="sng">
                <a:solidFill>
                  <a:schemeClr val="hlink"/>
                </a:solidFill>
                <a:latin typeface="Kanit Light"/>
                <a:ea typeface="Kanit Light"/>
                <a:cs typeface="Kanit Light"/>
                <a:sym typeface="Kanit Light"/>
                <a:hlinkClick r:id="rId4"/>
              </a:rPr>
              <a:t>Slidesgo</a:t>
            </a:r>
            <a:r>
              <a:rPr lang="en" sz="1000" u="sng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rPr>
              <a:t>, </a:t>
            </a:r>
            <a:r>
              <a:rPr lang="en" sz="10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rPr>
              <a:t>and includes icons by </a:t>
            </a:r>
            <a:r>
              <a:rPr lang="en" sz="1000" u="sng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u="sng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rPr>
              <a:t>,</a:t>
            </a:r>
            <a:r>
              <a:rPr lang="en" sz="10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rPr>
              <a:t> and infographics &amp; images by </a:t>
            </a:r>
            <a:r>
              <a:rPr lang="en" sz="1000" u="sng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u="sng">
              <a:solidFill>
                <a:schemeClr val="dk1"/>
              </a:solidFill>
              <a:latin typeface="Kanit Light"/>
              <a:ea typeface="Kanit Light"/>
              <a:cs typeface="Kanit Light"/>
              <a:sym typeface="Kanit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1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2"/>
          <p:cNvPicPr preferRelativeResize="0"/>
          <p:nvPr/>
        </p:nvPicPr>
        <p:blipFill rotWithShape="1">
          <a:blip r:embed="rId3">
            <a:alphaModFix amt="70000"/>
          </a:blip>
          <a:srcRect r="46170" b="42243"/>
          <a:stretch/>
        </p:blipFill>
        <p:spPr>
          <a:xfrm flipH="1">
            <a:off x="5856008" y="0"/>
            <a:ext cx="3287992" cy="198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3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●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○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■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●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○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■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●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○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■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8" r:id="rId5"/>
    <p:sldLayoutId id="2147483663" r:id="rId6"/>
    <p:sldLayoutId id="2147483665" r:id="rId7"/>
    <p:sldLayoutId id="2147483666" r:id="rId8"/>
    <p:sldLayoutId id="2147483667" r:id="rId9"/>
    <p:sldLayoutId id="214748366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>
            <a:spLocks noGrp="1"/>
          </p:cNvSpPr>
          <p:nvPr>
            <p:ph type="ctrTitle"/>
          </p:nvPr>
        </p:nvSpPr>
        <p:spPr>
          <a:xfrm>
            <a:off x="1654450" y="1307025"/>
            <a:ext cx="5682300" cy="19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 dirty="0"/>
              <a:t>Spectra Escape</a:t>
            </a:r>
            <a:endParaRPr sz="7200" dirty="0"/>
          </a:p>
        </p:txBody>
      </p:sp>
      <p:sp>
        <p:nvSpPr>
          <p:cNvPr id="200" name="Google Shape;200;p26"/>
          <p:cNvSpPr txBox="1">
            <a:spLocks noGrp="1"/>
          </p:cNvSpPr>
          <p:nvPr>
            <p:ph type="subTitle" idx="1"/>
          </p:nvPr>
        </p:nvSpPr>
        <p:spPr>
          <a:xfrm>
            <a:off x="1654575" y="3450425"/>
            <a:ext cx="56823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Niklas Brandtner</a:t>
            </a:r>
            <a:endParaRPr dirty="0"/>
          </a:p>
        </p:txBody>
      </p:sp>
      <p:grpSp>
        <p:nvGrpSpPr>
          <p:cNvPr id="201" name="Google Shape;201;p26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02" name="Google Shape;202;p26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54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257" name="Google Shape;257;p30"/>
          <p:cNvSpPr txBox="1">
            <a:spLocks noGrp="1"/>
          </p:cNvSpPr>
          <p:nvPr>
            <p:ph type="body" idx="1"/>
          </p:nvPr>
        </p:nvSpPr>
        <p:spPr>
          <a:xfrm>
            <a:off x="720000" y="1547575"/>
            <a:ext cx="4549500" cy="26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Concept:</a:t>
            </a:r>
          </a:p>
          <a:p>
            <a:pPr marL="171450" indent="-171450"/>
            <a:r>
              <a:rPr lang="en-US" dirty="0"/>
              <a:t>A laser-based puzzle escape game combining logic, reflection, and STEM learning</a:t>
            </a:r>
          </a:p>
          <a:p>
            <a:pPr marL="171450" indent="-171450"/>
            <a:endParaRPr lang="en-US" dirty="0"/>
          </a:p>
          <a:p>
            <a:pPr marL="0" indent="0">
              <a:buNone/>
            </a:pPr>
            <a:r>
              <a:rPr lang="en-GB" dirty="0"/>
              <a:t>Target Audience:</a:t>
            </a:r>
          </a:p>
          <a:p>
            <a:pPr marL="171450" indent="-171450"/>
            <a:r>
              <a:rPr lang="en-GB" dirty="0"/>
              <a:t>Highschool Students and Puzzle Fans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Platform:</a:t>
            </a:r>
          </a:p>
          <a:p>
            <a:pPr marL="171450" indent="-171450"/>
            <a:r>
              <a:rPr lang="en-GB" dirty="0"/>
              <a:t>WebGL Build</a:t>
            </a:r>
          </a:p>
          <a:p>
            <a:pPr marL="171450" indent="-171450"/>
            <a:r>
              <a:rPr lang="en-GB" dirty="0"/>
              <a:t>Itch.io</a:t>
            </a:r>
            <a:endParaRPr dirty="0"/>
          </a:p>
        </p:txBody>
      </p:sp>
      <p:pic>
        <p:nvPicPr>
          <p:cNvPr id="258" name="Google Shape;258;p3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 l="17537" r="17537"/>
          <a:stretch/>
        </p:blipFill>
        <p:spPr>
          <a:xfrm>
            <a:off x="5831400" y="756200"/>
            <a:ext cx="2526600" cy="3699600"/>
          </a:xfrm>
          <a:prstGeom prst="snip1Rect">
            <a:avLst>
              <a:gd name="adj" fmla="val 16667"/>
            </a:avLst>
          </a:prstGeom>
        </p:spPr>
      </p:pic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4"/>
          <p:cNvSpPr txBox="1">
            <a:spLocks noGrp="1"/>
          </p:cNvSpPr>
          <p:nvPr>
            <p:ph type="subTitle" idx="7"/>
          </p:nvPr>
        </p:nvSpPr>
        <p:spPr>
          <a:xfrm>
            <a:off x="724559" y="2034450"/>
            <a:ext cx="2459100" cy="5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Design</a:t>
            </a:r>
            <a:endParaRPr dirty="0"/>
          </a:p>
        </p:txBody>
      </p:sp>
      <p:sp>
        <p:nvSpPr>
          <p:cNvPr id="312" name="Google Shape;312;p34"/>
          <p:cNvSpPr txBox="1">
            <a:spLocks noGrp="1"/>
          </p:cNvSpPr>
          <p:nvPr>
            <p:ph type="subTitle" idx="8"/>
          </p:nvPr>
        </p:nvSpPr>
        <p:spPr>
          <a:xfrm>
            <a:off x="3347009" y="2034450"/>
            <a:ext cx="2459100" cy="5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Concept</a:t>
            </a:r>
            <a:endParaRPr dirty="0"/>
          </a:p>
        </p:txBody>
      </p:sp>
      <p:sp>
        <p:nvSpPr>
          <p:cNvPr id="313" name="Google Shape;313;p34"/>
          <p:cNvSpPr txBox="1">
            <a:spLocks noGrp="1"/>
          </p:cNvSpPr>
          <p:nvPr>
            <p:ph type="subTitle" idx="9"/>
          </p:nvPr>
        </p:nvSpPr>
        <p:spPr>
          <a:xfrm>
            <a:off x="5964300" y="2034450"/>
            <a:ext cx="2459700" cy="5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Mechanics</a:t>
            </a:r>
            <a:endParaRPr dirty="0"/>
          </a:p>
        </p:txBody>
      </p:sp>
      <p:sp>
        <p:nvSpPr>
          <p:cNvPr id="314" name="Google Shape;314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Game Design &amp; Mechanics</a:t>
            </a:r>
            <a:endParaRPr dirty="0"/>
          </a:p>
        </p:txBody>
      </p:sp>
      <p:sp>
        <p:nvSpPr>
          <p:cNvPr id="315" name="Google Shape;315;p34"/>
          <p:cNvSpPr txBox="1">
            <a:spLocks noGrp="1"/>
          </p:cNvSpPr>
          <p:nvPr>
            <p:ph type="subTitle" idx="1"/>
          </p:nvPr>
        </p:nvSpPr>
        <p:spPr>
          <a:xfrm>
            <a:off x="729702" y="2569288"/>
            <a:ext cx="2459100" cy="10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Futuristic Laserbeam Puzzle with Plasma Panels and Laser Splitters</a:t>
            </a:r>
            <a:endParaRPr dirty="0"/>
          </a:p>
        </p:txBody>
      </p:sp>
      <p:sp>
        <p:nvSpPr>
          <p:cNvPr id="318" name="Google Shape;318;p34"/>
          <p:cNvSpPr txBox="1">
            <a:spLocks noGrp="1"/>
          </p:cNvSpPr>
          <p:nvPr>
            <p:ph type="subTitle" idx="2"/>
          </p:nvPr>
        </p:nvSpPr>
        <p:spPr>
          <a:xfrm>
            <a:off x="3346709" y="2569300"/>
            <a:ext cx="2459700" cy="10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 Puzzle where Players reflect a Laser beam through a maze to reach a Target</a:t>
            </a:r>
            <a:endParaRPr dirty="0"/>
          </a:p>
        </p:txBody>
      </p:sp>
      <p:sp>
        <p:nvSpPr>
          <p:cNvPr id="319" name="Google Shape;319;p34"/>
          <p:cNvSpPr txBox="1">
            <a:spLocks noGrp="1"/>
          </p:cNvSpPr>
          <p:nvPr>
            <p:ph type="subTitle" idx="3"/>
          </p:nvPr>
        </p:nvSpPr>
        <p:spPr>
          <a:xfrm>
            <a:off x="5964300" y="2569300"/>
            <a:ext cx="2459700" cy="10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Mirrors &amp; Splitters can be moved and rotated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Mirrors reflect the beam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Splitters split the beam in two smaller beams</a:t>
            </a:r>
            <a:endParaRPr dirty="0"/>
          </a:p>
        </p:txBody>
      </p:sp>
      <p:grpSp>
        <p:nvGrpSpPr>
          <p:cNvPr id="321" name="Google Shape;321;p34"/>
          <p:cNvGrpSpPr/>
          <p:nvPr/>
        </p:nvGrpSpPr>
        <p:grpSpPr>
          <a:xfrm>
            <a:off x="8000400" y="987850"/>
            <a:ext cx="536998" cy="134100"/>
            <a:chOff x="7229775" y="947625"/>
            <a:chExt cx="536998" cy="134100"/>
          </a:xfrm>
        </p:grpSpPr>
        <p:sp>
          <p:nvSpPr>
            <p:cNvPr id="322" name="Google Shape;322;p34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23" name="Google Shape;323;p34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24" name="Google Shape;324;p34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25" name="Google Shape;325;p34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p42"/>
          <p:cNvPicPr preferRelativeResize="0"/>
          <p:nvPr/>
        </p:nvPicPr>
        <p:blipFill rotWithShape="1">
          <a:blip r:embed="rId3"/>
          <a:srcRect l="262" r="262"/>
          <a:stretch/>
        </p:blipFill>
        <p:spPr>
          <a:xfrm>
            <a:off x="1043362" y="1135013"/>
            <a:ext cx="928500" cy="928500"/>
          </a:xfrm>
          <a:prstGeom prst="snip1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80" name="Google Shape;480;p42"/>
          <p:cNvPicPr preferRelativeResize="0"/>
          <p:nvPr/>
        </p:nvPicPr>
        <p:blipFill rotWithShape="1">
          <a:blip r:embed="rId4"/>
          <a:srcRect t="11997" b="11997"/>
          <a:stretch/>
        </p:blipFill>
        <p:spPr>
          <a:xfrm>
            <a:off x="1043350" y="2298520"/>
            <a:ext cx="928500" cy="9285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81" name="Google Shape;481;p42"/>
          <p:cNvPicPr preferRelativeResize="0"/>
          <p:nvPr/>
        </p:nvPicPr>
        <p:blipFill rotWithShape="1">
          <a:blip r:embed="rId5"/>
          <a:srcRect l="12012" r="12012"/>
          <a:stretch/>
        </p:blipFill>
        <p:spPr>
          <a:xfrm>
            <a:off x="1043362" y="3462027"/>
            <a:ext cx="928500" cy="928500"/>
          </a:xfrm>
          <a:prstGeom prst="snip1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85" name="Google Shape;485;p42"/>
          <p:cNvSpPr txBox="1">
            <a:spLocks noGrp="1"/>
          </p:cNvSpPr>
          <p:nvPr>
            <p:ph type="subTitle" idx="4"/>
          </p:nvPr>
        </p:nvSpPr>
        <p:spPr>
          <a:xfrm>
            <a:off x="2258453" y="1364375"/>
            <a:ext cx="5340900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Design short interesting Mechanics and challenging Puzzles</a:t>
            </a:r>
            <a:endParaRPr dirty="0"/>
          </a:p>
        </p:txBody>
      </p:sp>
      <p:sp>
        <p:nvSpPr>
          <p:cNvPr id="486" name="Google Shape;486;p42"/>
          <p:cNvSpPr txBox="1">
            <a:spLocks noGrp="1"/>
          </p:cNvSpPr>
          <p:nvPr>
            <p:ph type="subTitle" idx="5"/>
          </p:nvPr>
        </p:nvSpPr>
        <p:spPr>
          <a:xfrm>
            <a:off x="2258453" y="2533420"/>
            <a:ext cx="5340900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Core Logic of Laser Beams, Mirrors and Splitters</a:t>
            </a:r>
            <a:endParaRPr dirty="0"/>
          </a:p>
        </p:txBody>
      </p:sp>
      <p:sp>
        <p:nvSpPr>
          <p:cNvPr id="487" name="Google Shape;487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Goals &amp; Challenges</a:t>
            </a:r>
            <a:endParaRPr dirty="0"/>
          </a:p>
        </p:txBody>
      </p:sp>
      <p:sp>
        <p:nvSpPr>
          <p:cNvPr id="488" name="Google Shape;488;p42"/>
          <p:cNvSpPr txBox="1">
            <a:spLocks noGrp="1"/>
          </p:cNvSpPr>
          <p:nvPr>
            <p:ph type="subTitle" idx="6"/>
          </p:nvPr>
        </p:nvSpPr>
        <p:spPr>
          <a:xfrm>
            <a:off x="2258453" y="3697583"/>
            <a:ext cx="5340900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Shaders, Lighting, Volumes and URP</a:t>
            </a:r>
            <a:endParaRPr dirty="0"/>
          </a:p>
        </p:txBody>
      </p:sp>
      <p:grpSp>
        <p:nvGrpSpPr>
          <p:cNvPr id="489" name="Google Shape;489;p42"/>
          <p:cNvGrpSpPr/>
          <p:nvPr/>
        </p:nvGrpSpPr>
        <p:grpSpPr>
          <a:xfrm>
            <a:off x="8048175" y="1593725"/>
            <a:ext cx="536998" cy="134100"/>
            <a:chOff x="7229775" y="947625"/>
            <a:chExt cx="536998" cy="134100"/>
          </a:xfrm>
        </p:grpSpPr>
        <p:sp>
          <p:nvSpPr>
            <p:cNvPr id="490" name="Google Shape;490;p42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91" name="Google Shape;491;p42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92" name="Google Shape;492;p42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93" name="Google Shape;493;p42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494" name="Google Shape;494;p42"/>
          <p:cNvGrpSpPr/>
          <p:nvPr/>
        </p:nvGrpSpPr>
        <p:grpSpPr>
          <a:xfrm>
            <a:off x="8353750" y="3948375"/>
            <a:ext cx="150300" cy="378950"/>
            <a:chOff x="205650" y="308475"/>
            <a:chExt cx="150300" cy="378950"/>
          </a:xfrm>
        </p:grpSpPr>
        <p:sp>
          <p:nvSpPr>
            <p:cNvPr id="495" name="Google Shape;495;p42"/>
            <p:cNvSpPr/>
            <p:nvPr/>
          </p:nvSpPr>
          <p:spPr>
            <a:xfrm>
              <a:off x="205650" y="30847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96" name="Google Shape;496;p42"/>
            <p:cNvSpPr/>
            <p:nvPr/>
          </p:nvSpPr>
          <p:spPr>
            <a:xfrm>
              <a:off x="281850" y="460900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97" name="Google Shape;497;p42"/>
            <p:cNvSpPr/>
            <p:nvPr/>
          </p:nvSpPr>
          <p:spPr>
            <a:xfrm>
              <a:off x="205650" y="61332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544EA-8972-CF5F-50F4-AF3228F52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445025"/>
            <a:ext cx="5306047" cy="572700"/>
          </a:xfrm>
        </p:spPr>
        <p:txBody>
          <a:bodyPr/>
          <a:lstStyle/>
          <a:p>
            <a:r>
              <a:rPr lang="en-US" dirty="0"/>
              <a:t>Conclusion &amp; Reflection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2F87B4-741D-CB89-C283-831792A0E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400" indent="0">
              <a:buNone/>
            </a:pPr>
            <a:r>
              <a:rPr lang="en-US" dirty="0"/>
              <a:t>Lessons Learned:</a:t>
            </a:r>
          </a:p>
          <a:p>
            <a:r>
              <a:rPr lang="en-GB" dirty="0"/>
              <a:t>Shader Development</a:t>
            </a:r>
          </a:p>
          <a:p>
            <a:r>
              <a:rPr lang="en-GB" dirty="0"/>
              <a:t>C# Logic</a:t>
            </a:r>
          </a:p>
          <a:p>
            <a:r>
              <a:rPr lang="en-GB" dirty="0"/>
              <a:t>How to do it better from the start</a:t>
            </a:r>
          </a:p>
          <a:p>
            <a:pPr marL="152400" indent="0">
              <a:buNone/>
            </a:pPr>
            <a:endParaRPr lang="en-GB" dirty="0"/>
          </a:p>
          <a:p>
            <a:pPr marL="152400" indent="0">
              <a:buNone/>
            </a:pPr>
            <a:r>
              <a:rPr lang="en-GB" dirty="0"/>
              <a:t>Further expand </a:t>
            </a:r>
            <a:r>
              <a:rPr lang="en-GB" dirty="0" err="1"/>
              <a:t>SpectraEscape</a:t>
            </a:r>
            <a:r>
              <a:rPr lang="en-GB" dirty="0"/>
              <a:t>:</a:t>
            </a:r>
          </a:p>
          <a:p>
            <a:r>
              <a:rPr lang="en-GB" dirty="0"/>
              <a:t>Switch Laser-Logic</a:t>
            </a:r>
          </a:p>
          <a:p>
            <a:r>
              <a:rPr lang="en-GB" dirty="0"/>
              <a:t>More Mechanics like </a:t>
            </a:r>
            <a:r>
              <a:rPr lang="en-GB" dirty="0" err="1"/>
              <a:t>Multicolor</a:t>
            </a:r>
            <a:r>
              <a:rPr lang="en-GB" dirty="0"/>
              <a:t> </a:t>
            </a:r>
            <a:r>
              <a:rPr lang="en-GB" dirty="0" err="1"/>
              <a:t>Laserbeams</a:t>
            </a:r>
            <a:endParaRPr lang="en-GB" dirty="0"/>
          </a:p>
        </p:txBody>
      </p:sp>
      <p:pic>
        <p:nvPicPr>
          <p:cNvPr id="6" name="Picture Placeholder 5" descr="Neon laser lights aligned to form a triangle">
            <a:extLst>
              <a:ext uri="{FF2B5EF4-FFF2-40B4-BE49-F238E27FC236}">
                <a16:creationId xmlns:a16="http://schemas.microsoft.com/office/drawing/2014/main" id="{D8520A55-8A78-EE39-4E4D-8763D269B823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28674" r="28674"/>
          <a:stretch>
            <a:fillRect/>
          </a:stretch>
        </p:blipFill>
        <p:spPr>
          <a:xfrm>
            <a:off x="6161088" y="820738"/>
            <a:ext cx="2525712" cy="3700462"/>
          </a:xfrm>
        </p:spPr>
      </p:pic>
    </p:spTree>
    <p:extLst>
      <p:ext uri="{BB962C8B-B14F-4D97-AF65-F5344CB8AC3E}">
        <p14:creationId xmlns:p14="http://schemas.microsoft.com/office/powerpoint/2010/main" val="4012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 for listening!</a:t>
            </a:r>
            <a:endParaRPr dirty="0"/>
          </a:p>
        </p:txBody>
      </p:sp>
      <p:grpSp>
        <p:nvGrpSpPr>
          <p:cNvPr id="560" name="Google Shape;560;p45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561" name="Google Shape;561;p45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562" name="Google Shape;562;p45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563" name="Google Shape;563;p45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564" name="Google Shape;564;p45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565" name="Google Shape;565;p45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566" name="Google Shape;566;p45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567" name="Google Shape;567;p45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568" name="Google Shape;568;p45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569" name="Google Shape;569;p45"/>
          <p:cNvGrpSpPr/>
          <p:nvPr/>
        </p:nvGrpSpPr>
        <p:grpSpPr>
          <a:xfrm>
            <a:off x="1225675" y="2319125"/>
            <a:ext cx="74100" cy="1788450"/>
            <a:chOff x="8657175" y="772575"/>
            <a:chExt cx="74100" cy="1788450"/>
          </a:xfrm>
        </p:grpSpPr>
        <p:sp>
          <p:nvSpPr>
            <p:cNvPr id="570" name="Google Shape;570;p45"/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571" name="Google Shape;571;p45"/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572" name="Google Shape;572;p45"/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573" name="Google Shape;573;p45"/>
          <p:cNvGrpSpPr/>
          <p:nvPr/>
        </p:nvGrpSpPr>
        <p:grpSpPr>
          <a:xfrm>
            <a:off x="205650" y="308475"/>
            <a:ext cx="150300" cy="378950"/>
            <a:chOff x="205650" y="308475"/>
            <a:chExt cx="150300" cy="378950"/>
          </a:xfrm>
        </p:grpSpPr>
        <p:sp>
          <p:nvSpPr>
            <p:cNvPr id="574" name="Google Shape;574;p45"/>
            <p:cNvSpPr/>
            <p:nvPr/>
          </p:nvSpPr>
          <p:spPr>
            <a:xfrm>
              <a:off x="205650" y="30847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575" name="Google Shape;575;p45"/>
            <p:cNvSpPr/>
            <p:nvPr/>
          </p:nvSpPr>
          <p:spPr>
            <a:xfrm>
              <a:off x="281850" y="460900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576" name="Google Shape;576;p45"/>
            <p:cNvSpPr/>
            <p:nvPr/>
          </p:nvSpPr>
          <p:spPr>
            <a:xfrm>
              <a:off x="205650" y="61332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Game Design Agency by Slidesgo">
  <a:themeElements>
    <a:clrScheme name="Simple Light">
      <a:dk1>
        <a:srgbClr val="FFFFFF"/>
      </a:dk1>
      <a:lt1>
        <a:srgbClr val="000000"/>
      </a:lt1>
      <a:dk2>
        <a:srgbClr val="DD3D6E"/>
      </a:dk2>
      <a:lt2>
        <a:srgbClr val="6ABFD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Microsoft Office PowerPoint</Application>
  <PresentationFormat>On-screen Show (16:9)</PresentationFormat>
  <Paragraphs>38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Open Sans Light</vt:lpstr>
      <vt:lpstr>Kanit</vt:lpstr>
      <vt:lpstr>Raleway</vt:lpstr>
      <vt:lpstr>Arial</vt:lpstr>
      <vt:lpstr>Kanit Light</vt:lpstr>
      <vt:lpstr>Orbitron</vt:lpstr>
      <vt:lpstr>Game Design Agency by Slidesgo</vt:lpstr>
      <vt:lpstr>Spectra Escape</vt:lpstr>
      <vt:lpstr>Overview</vt:lpstr>
      <vt:lpstr>Game Design &amp; Mechanics</vt:lpstr>
      <vt:lpstr>Goals &amp; Challenges</vt:lpstr>
      <vt:lpstr>Conclusion &amp; Reflection</vt:lpstr>
      <vt:lpstr>Thanks for listening!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Niklas B</cp:lastModifiedBy>
  <cp:revision>1</cp:revision>
  <dcterms:modified xsi:type="dcterms:W3CDTF">2025-10-07T22:47:00Z</dcterms:modified>
</cp:coreProperties>
</file>